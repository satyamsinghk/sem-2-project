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1" r:id="rId6"/>
    <p:sldId id="272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3B021A-38EC-4943-7B0A-1A5D849559FC}" v="131" dt="2026-04-05T21:13:33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04:53:28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14114 6869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B0F12-CBD6-41E0-9363-8F69B9DC8940}" type="datetimeFigureOut">
              <a:t>4/5/2026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75495-DF6D-433C-BDD5-862E6802A5C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956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2860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and Preference-Aware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Compiler Optimization Framework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14400" y="3246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35021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Satyam Singh Kumre (206124027)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163129" y="320983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63129" y="346586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Priyanka Panigrahi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DEPARTMENT OF COMPUTER SCIENCE AND ENGINEERING</a:t>
            </a:r>
            <a:endParaRPr lang="en-US" sz="1200">
              <a:latin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US" sz="1200" dirty="0">
                <a:latin typeface="Times New Roman"/>
                <a:ea typeface="Calibri"/>
                <a:cs typeface="Times New Roman"/>
              </a:rPr>
              <a:t>NATIONAL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INSTITUTE OF TECHNOLOGY, TIRUCHIRAPPALLI</a:t>
            </a:r>
            <a:endParaRPr lang="en-US" sz="12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PROBLEM STATEMENT, OBJECTIVES &amp; MOTIVATION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
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compiler optimizations (e.g., Clang/GCC -O3, -Oz) use rigid, one-size-fits-all heuristic pass sequences, failing to adapt to specialized source code architecture. Lack of preference awareness makes it hard to strike a precise balance between Execution Speed, Code Size, and Compile Time.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
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build a Machine Learning-based Predictive Compiler Optimization Framework on LLVM/Clang that dynamically selects optimal pass sequences per program and introduces a 3D Metric Priority Vector (Speed, Size, Compile-Time) for developer-steered output.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
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rigid -O3 heuristics with per-program ML prediction, delivering measurable real-world speedups.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developer control over compiler output — a first in ML-compiler research.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 1.25 ms inference overhead: suitable for production toolchains and CI/CD pipelines.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3-A. LITERATURE SURVEY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05840"/>
          <a:ext cx="8686800" cy="352044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Gaps Identified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2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Clang/LLVM -O3 and -O2 heuristics.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hand-crafted pass sequences applied universally to all C programs.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Rigidity: Performs well on average but fails to extract peak speedups for specialized Matrix / Loop-heavy code.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1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Autophase: Juggling HLS Phase Orderings (Huang et al., 2019).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56-dim Autophase features + Reinforcement Learning for pass ordering.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Limit: Fixed 56-dim features cannot capture complex semantic structures; no developer preference control.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3-B. LITERATURE SURVEY CONTD.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05840"/>
          <a:ext cx="8686800" cy="352044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Gaps Identified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2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Compilation Search (Genetic Algorithms over LLVM passes).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Evolutionary search over pass orderings — hundreds of compilations per file.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Massive Overhead: Minutes/hours per file. Cannot be used in real-world toolchains.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1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LLM Compiler: Foundation Models of Compiler Optimization (ArXiv, 2024).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7B-parameter LLM trained on LLVM IR for pass selection.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Priority Tuning: Entirely optimizes for speed; developers cannot steer towards size or compile-time goals.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4-A. BLOCK SCHEMATIC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380818" y="1180608"/>
            <a:ext cx="2103120" cy="5486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9" name="Text 6"/>
          <p:cNvSpPr/>
          <p:nvPr/>
        </p:nvSpPr>
        <p:spPr>
          <a:xfrm>
            <a:off x="1417394" y="118060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Calibri"/>
                <a:ea typeface="Calibri"/>
                <a:cs typeface="Calibri"/>
              </a:rPr>
              <a:t>Base C-Programs</a:t>
            </a:r>
            <a:endParaRPr lang="en-US" sz="9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900" b="1" dirty="0">
                <a:latin typeface="Calibri"/>
                <a:ea typeface="Calibri"/>
                <a:cs typeface="Calibri"/>
              </a:rPr>
              <a:t>(</a:t>
            </a:r>
            <a:r>
              <a:rPr lang="en-US" sz="900" b="1" dirty="0" err="1">
                <a:latin typeface="Calibri"/>
                <a:ea typeface="Calibri"/>
                <a:cs typeface="Calibri"/>
              </a:rPr>
              <a:t>FormAI</a:t>
            </a:r>
            <a:r>
              <a:rPr lang="en-US" sz="900" b="1" dirty="0">
                <a:latin typeface="Calibri"/>
                <a:ea typeface="Calibri"/>
                <a:cs typeface="Calibri"/>
              </a:rPr>
              <a:t> / </a:t>
            </a:r>
            <a:r>
              <a:rPr lang="en-US" sz="900" b="1" dirty="0" err="1">
                <a:latin typeface="Calibri"/>
                <a:ea typeface="Calibri"/>
                <a:cs typeface="Calibri"/>
              </a:rPr>
              <a:t>PolyBench</a:t>
            </a:r>
            <a:r>
              <a:rPr lang="en-US" sz="900" b="1" dirty="0">
                <a:latin typeface="Calibri"/>
                <a:ea typeface="Calibri"/>
                <a:cs typeface="Calibri"/>
              </a:rPr>
              <a:t>)</a:t>
            </a:r>
            <a:endParaRPr lang="en-US" sz="9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758258" y="1180608"/>
            <a:ext cx="2103120" cy="5486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1" name="Text 8"/>
          <p:cNvSpPr/>
          <p:nvPr/>
        </p:nvSpPr>
        <p:spPr>
          <a:xfrm>
            <a:off x="3794834" y="118060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Calibri"/>
                <a:ea typeface="Calibri"/>
                <a:cs typeface="Calibri"/>
              </a:rPr>
              <a:t>Developer Priority Vector</a:t>
            </a:r>
            <a:endParaRPr lang="en-US" sz="9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900" b="1" dirty="0">
                <a:latin typeface="Calibri"/>
                <a:ea typeface="Calibri"/>
                <a:cs typeface="Calibri"/>
              </a:rPr>
              <a:t>(Speed | Size | Compile-Time)</a:t>
            </a:r>
            <a:endParaRPr lang="en-US" sz="9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135698" y="1180608"/>
            <a:ext cx="2103120" cy="5486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3" name="Text 10"/>
          <p:cNvSpPr/>
          <p:nvPr/>
        </p:nvSpPr>
        <p:spPr>
          <a:xfrm>
            <a:off x="6172274" y="118060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Calibri"/>
                <a:ea typeface="Calibri"/>
                <a:cs typeface="Calibri"/>
              </a:rPr>
              <a:t>LLVM Intermediate</a:t>
            </a:r>
            <a:endParaRPr lang="en-US" sz="9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900" b="1" dirty="0">
                <a:latin typeface="Calibri"/>
                <a:ea typeface="Calibri"/>
                <a:cs typeface="Calibri"/>
              </a:rPr>
              <a:t>Representation (IR)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95889" y="118060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377628" y="2045326"/>
            <a:ext cx="6808095" cy="133488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417394" y="2021856"/>
            <a:ext cx="6510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/>
                <a:ea typeface="Calibri"/>
                <a:cs typeface="Calibri"/>
              </a:rPr>
              <a:t>FEATURE EXTRACTION MODULE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507144" y="2549768"/>
            <a:ext cx="6550269" cy="225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 err="1">
                <a:latin typeface="Calibri"/>
                <a:ea typeface="Calibri"/>
                <a:cs typeface="Calibri"/>
              </a:rPr>
              <a:t>IRFeatureExtractor</a:t>
            </a:r>
            <a:r>
              <a:rPr lang="en-US" sz="950" i="1" dirty="0">
                <a:latin typeface="Calibri"/>
                <a:ea typeface="Calibri"/>
                <a:cs typeface="Calibri"/>
              </a:rPr>
              <a:t>  →  66-dim </a:t>
            </a:r>
            <a:r>
              <a:rPr lang="en-US" sz="950" i="1" dirty="0" err="1">
                <a:latin typeface="Calibri"/>
                <a:ea typeface="Calibri"/>
                <a:cs typeface="Calibri"/>
              </a:rPr>
              <a:t>Autophase</a:t>
            </a:r>
            <a:r>
              <a:rPr lang="en-US" sz="950" i="1" dirty="0">
                <a:latin typeface="Calibri"/>
                <a:ea typeface="Calibri"/>
                <a:cs typeface="Calibri"/>
              </a:rPr>
              <a:t> CFG parsing</a:t>
            </a:r>
            <a:endParaRPr lang="en-US" sz="950" dirty="0">
              <a:latin typeface="Calibri"/>
              <a:ea typeface="Calibri"/>
              <a:cs typeface="Calibri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493956" y="2779071"/>
            <a:ext cx="6563457" cy="243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 err="1">
                <a:latin typeface="Calibri"/>
                <a:ea typeface="Calibri"/>
                <a:cs typeface="Calibri"/>
              </a:rPr>
              <a:t>NLPFeatureExtractor</a:t>
            </a:r>
            <a:r>
              <a:rPr lang="en-US" sz="950" i="1" dirty="0">
                <a:latin typeface="Calibri"/>
                <a:ea typeface="Calibri"/>
                <a:cs typeface="Calibri"/>
              </a:rPr>
              <a:t>  →  </a:t>
            </a:r>
            <a:r>
              <a:rPr lang="en-US" sz="950" i="1" dirty="0" err="1">
                <a:latin typeface="Calibri"/>
                <a:ea typeface="Calibri"/>
                <a:cs typeface="Calibri"/>
              </a:rPr>
              <a:t>HuggingFace</a:t>
            </a:r>
            <a:r>
              <a:rPr lang="en-US" sz="950" i="1" dirty="0">
                <a:latin typeface="Calibri"/>
                <a:ea typeface="Calibri"/>
                <a:cs typeface="Calibri"/>
              </a:rPr>
              <a:t> </a:t>
            </a:r>
            <a:r>
              <a:rPr lang="en-US" sz="950" i="1" dirty="0" err="1">
                <a:latin typeface="Calibri"/>
                <a:ea typeface="Calibri"/>
                <a:cs typeface="Calibri"/>
              </a:rPr>
              <a:t>CodeBERT</a:t>
            </a:r>
            <a:r>
              <a:rPr lang="en-US" sz="950" i="1" dirty="0">
                <a:latin typeface="Calibri"/>
                <a:ea typeface="Calibri"/>
                <a:cs typeface="Calibri"/>
              </a:rPr>
              <a:t> 768-dim IR embeddings</a:t>
            </a:r>
            <a:endParaRPr lang="en-US" sz="950" dirty="0">
              <a:latin typeface="Calibri"/>
              <a:ea typeface="Calibri"/>
              <a:cs typeface="Calibri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489560" y="3008375"/>
            <a:ext cx="65678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latin typeface="Calibri"/>
                <a:ea typeface="Calibri"/>
                <a:cs typeface="Calibri"/>
              </a:rPr>
              <a:t>Hybrid Concatenation  →  Normalized N-dim Feature Vector + Priority Vector</a:t>
            </a:r>
            <a:endParaRPr lang="en-US" sz="950" dirty="0">
              <a:latin typeface="Calibri"/>
              <a:ea typeface="Calibri"/>
              <a:cs typeface="Calibri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301058" y="3731784"/>
            <a:ext cx="2743200" cy="5120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33" name="Text 30"/>
          <p:cNvSpPr/>
          <p:nvPr/>
        </p:nvSpPr>
        <p:spPr>
          <a:xfrm>
            <a:off x="3337634" y="3731784"/>
            <a:ext cx="2670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Calibri"/>
                <a:ea typeface="Calibri"/>
                <a:cs typeface="Calibri"/>
              </a:rPr>
              <a:t>Normalized Feature Array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000" b="1" dirty="0">
                <a:latin typeface="Calibri"/>
                <a:ea typeface="Calibri"/>
                <a:cs typeface="Calibri"/>
              </a:rPr>
              <a:t>(Ready for ML Engine →)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9D2D3BF-9D79-69B1-C614-0338A2561E8C}"/>
              </a:ext>
            </a:extLst>
          </p:cNvPr>
          <p:cNvCxnSpPr/>
          <p:nvPr/>
        </p:nvCxnSpPr>
        <p:spPr>
          <a:xfrm>
            <a:off x="2516443" y="1723717"/>
            <a:ext cx="9217" cy="3041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3B82EFB-2288-B1FA-E1B5-F7785D6F3087}"/>
              </a:ext>
            </a:extLst>
          </p:cNvPr>
          <p:cNvCxnSpPr/>
          <p:nvPr/>
        </p:nvCxnSpPr>
        <p:spPr>
          <a:xfrm>
            <a:off x="4830096" y="1742153"/>
            <a:ext cx="9217" cy="25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E5D952-1613-5920-0A10-3B86CE42A198}"/>
              </a:ext>
            </a:extLst>
          </p:cNvPr>
          <p:cNvCxnSpPr/>
          <p:nvPr/>
        </p:nvCxnSpPr>
        <p:spPr>
          <a:xfrm>
            <a:off x="7235927" y="1742153"/>
            <a:ext cx="9217" cy="294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3A395B9-5D1C-174D-BCF1-093A0C6E7993}"/>
              </a:ext>
            </a:extLst>
          </p:cNvPr>
          <p:cNvCxnSpPr/>
          <p:nvPr/>
        </p:nvCxnSpPr>
        <p:spPr>
          <a:xfrm>
            <a:off x="4747136" y="3401346"/>
            <a:ext cx="9217" cy="3134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495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4-B. BLOCK SCHEMATIC CONTD.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95218" y="747596"/>
            <a:ext cx="4572000" cy="4754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9" name="Text 6"/>
          <p:cNvSpPr/>
          <p:nvPr/>
        </p:nvSpPr>
        <p:spPr>
          <a:xfrm>
            <a:off x="2331794" y="747596"/>
            <a:ext cx="4498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Calibri"/>
                <a:ea typeface="Calibri"/>
                <a:cs typeface="Calibri"/>
              </a:rPr>
              <a:t>Normalized Feature Array  (from Feature Extraction)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37818" y="1451684"/>
            <a:ext cx="8686800" cy="4754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4" name="Text 11"/>
          <p:cNvSpPr/>
          <p:nvPr/>
        </p:nvSpPr>
        <p:spPr>
          <a:xfrm>
            <a:off x="274394" y="1451684"/>
            <a:ext cx="8613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/>
                <a:ea typeface="Calibri"/>
                <a:cs typeface="Calibri"/>
              </a:rPr>
              <a:t>MACHINE LEARNING ENSEMBLE ENGINE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37818" y="2091764"/>
            <a:ext cx="2560320" cy="65836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6" name="Text 13"/>
          <p:cNvSpPr/>
          <p:nvPr/>
        </p:nvSpPr>
        <p:spPr>
          <a:xfrm>
            <a:off x="274394" y="2091764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latin typeface="Calibri"/>
                <a:ea typeface="Calibri"/>
                <a:cs typeface="Calibri"/>
              </a:rPr>
              <a:t>ExtraTrees</a:t>
            </a:r>
            <a:r>
              <a:rPr lang="en-US" sz="900" b="1" dirty="0">
                <a:latin typeface="Calibri"/>
                <a:ea typeface="Calibri"/>
                <a:cs typeface="Calibri"/>
              </a:rPr>
              <a:t> Classifier</a:t>
            </a:r>
            <a:endParaRPr lang="en-US" sz="9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900" b="1" dirty="0">
                <a:latin typeface="Calibri"/>
                <a:ea typeface="Calibri"/>
                <a:cs typeface="Calibri"/>
              </a:rPr>
              <a:t>(Tree Ensemble / </a:t>
            </a:r>
            <a:r>
              <a:rPr lang="en-US" sz="900" b="1" dirty="0" err="1">
                <a:latin typeface="Calibri"/>
                <a:ea typeface="Calibri"/>
                <a:cs typeface="Calibri"/>
              </a:rPr>
              <a:t>XGBoost</a:t>
            </a:r>
            <a:r>
              <a:rPr lang="en-US" sz="900" b="1" dirty="0">
                <a:latin typeface="Calibri"/>
                <a:ea typeface="Calibri"/>
                <a:cs typeface="Calibri"/>
              </a:rPr>
              <a:t>-style)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090893" y="2091764"/>
            <a:ext cx="2670933" cy="6768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8" name="Text 15"/>
          <p:cNvSpPr/>
          <p:nvPr/>
        </p:nvSpPr>
        <p:spPr>
          <a:xfrm>
            <a:off x="3109034" y="2091764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Calibri"/>
                <a:ea typeface="Calibri"/>
                <a:cs typeface="Calibri"/>
              </a:rPr>
              <a:t>SVC  +  RBF Kernel</a:t>
            </a:r>
            <a:endParaRPr lang="en-US" sz="9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900" b="1" dirty="0">
                <a:latin typeface="Calibri"/>
                <a:ea typeface="Calibri"/>
                <a:cs typeface="Calibri"/>
              </a:rPr>
              <a:t>(Deep Non-linear Fallback)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026928" y="2091764"/>
            <a:ext cx="2892159" cy="69062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0" name="Text 17"/>
          <p:cNvSpPr/>
          <p:nvPr/>
        </p:nvSpPr>
        <p:spPr>
          <a:xfrm>
            <a:off x="5943674" y="2091764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Calibri"/>
                <a:ea typeface="Calibri"/>
                <a:cs typeface="Calibri"/>
              </a:rPr>
              <a:t>Deep Random Forest</a:t>
            </a:r>
            <a:endParaRPr lang="en-US" sz="9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900" b="1" dirty="0">
                <a:latin typeface="Calibri"/>
                <a:ea typeface="Calibri"/>
                <a:cs typeface="Calibri"/>
              </a:rPr>
              <a:t>(Probabilistic Ensemble)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1508760" y="3026664"/>
            <a:ext cx="0" cy="164592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44752" y="3081528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508760" y="3081528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3026664"/>
            <a:ext cx="0" cy="164592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114032" y="3081528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78040" y="3081528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472258" y="2914724"/>
            <a:ext cx="6217920" cy="4754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31" name="Text 28"/>
          <p:cNvSpPr/>
          <p:nvPr/>
        </p:nvSpPr>
        <p:spPr>
          <a:xfrm>
            <a:off x="1508834" y="2914724"/>
            <a:ext cx="6144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Calibri"/>
                <a:ea typeface="Calibri"/>
                <a:cs typeface="Calibri"/>
              </a:rPr>
              <a:t>Soft-Voting Aggregator  →  Argmax  →  Sequence ID [0-9]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1289378" y="3591380"/>
            <a:ext cx="6583680" cy="4754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36" name="Text 33"/>
          <p:cNvSpPr/>
          <p:nvPr/>
        </p:nvSpPr>
        <p:spPr>
          <a:xfrm>
            <a:off x="1325954" y="3591380"/>
            <a:ext cx="6510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Calibri"/>
                <a:ea typeface="Calibri"/>
                <a:cs typeface="Calibri"/>
              </a:rPr>
              <a:t>PASS EVALUATOR  →  LLVM Pass String  →  Clang Compile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1380818" y="4213172"/>
            <a:ext cx="6400800" cy="4754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41" name="Text 38"/>
          <p:cNvSpPr/>
          <p:nvPr/>
        </p:nvSpPr>
        <p:spPr>
          <a:xfrm>
            <a:off x="1417394" y="4213172"/>
            <a:ext cx="6327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Calibri"/>
                <a:ea typeface="Calibri"/>
                <a:cs typeface="Calibri"/>
              </a:rPr>
              <a:t>OUTPUT: Optimized Binary  |  8.37% Faster  |  7.22% Lower Compile Overhead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DA1F520-08AD-5863-38DF-442BE112235E}"/>
              </a:ext>
            </a:extLst>
          </p:cNvPr>
          <p:cNvCxnSpPr/>
          <p:nvPr/>
        </p:nvCxnSpPr>
        <p:spPr>
          <a:xfrm>
            <a:off x="4507475" y="1235177"/>
            <a:ext cx="9217" cy="193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07F13F0-58B7-3C2C-FABC-051ECCF4C6E2}"/>
                  </a:ext>
                </a:extLst>
              </p14:cNvPr>
              <p14:cNvContentPartPr/>
              <p14:nvPr/>
            </p14:nvContentPartPr>
            <p14:xfrm>
              <a:off x="4529986" y="1397726"/>
              <a:ext cx="9217" cy="9217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07F13F0-58B7-3C2C-FABC-051ECCF4C6E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69136" y="936876"/>
                <a:ext cx="921700" cy="921700"/>
              </a:xfrm>
              <a:prstGeom prst="rect">
                <a:avLst/>
              </a:prstGeom>
            </p:spPr>
          </p:pic>
        </mc:Fallback>
      </mc:AlternateContent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09DE583-62BF-3A57-63F9-34031D8D6FB2}"/>
              </a:ext>
            </a:extLst>
          </p:cNvPr>
          <p:cNvCxnSpPr/>
          <p:nvPr/>
        </p:nvCxnSpPr>
        <p:spPr>
          <a:xfrm>
            <a:off x="4433733" y="2765322"/>
            <a:ext cx="9217" cy="1382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F589D07-7A52-3C3E-32CC-3AAF2B60CF56}"/>
              </a:ext>
            </a:extLst>
          </p:cNvPr>
          <p:cNvCxnSpPr/>
          <p:nvPr/>
        </p:nvCxnSpPr>
        <p:spPr>
          <a:xfrm>
            <a:off x="4424515" y="3382911"/>
            <a:ext cx="9217" cy="1567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8DB80C8-F378-4CB3-DBB6-0EBA240AD279}"/>
              </a:ext>
            </a:extLst>
          </p:cNvPr>
          <p:cNvCxnSpPr/>
          <p:nvPr/>
        </p:nvCxnSpPr>
        <p:spPr>
          <a:xfrm>
            <a:off x="4433733" y="4074242"/>
            <a:ext cx="9217" cy="1198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884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5-A. ALGORITHM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PROGRAM CHARACTERISTIC EXTRACTION (PHASE - I):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298448"/>
            <a:ext cx="85039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 Source Code files requested by developer.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Lower C-Program into LLVM Intermediate Representation.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Initialize AutophaseFeatureExtractor.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Parse CFG (Control Flow Graph) extracting 56 node/edge features.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Parse mathematical instructions (Float Ops, Int Ops, Vector Ops).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Augment extracted list with Developer's Priority Vector [Speed, Size, CompileTime].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Normalize features using globally tracked Min-Max scaling.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N-dimensional feature array (69-dim baseline) ready for ML inference.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5-B. ALGORITHM CONTD.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ENSEMBLE MODEL INFERENCE (PHASE - II):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298448"/>
            <a:ext cx="85039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IR Feature Array; trained weights for RF, ExtraTrees, SVC.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Load input array into individual decoupled models concurrently.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Random Forest computes probability tree distribution.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ExtraTrees analyzes generalized boosting distribution.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SVC calculates non-linear RBF decision boundaries.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Soft-voting aggregator computes global weighted mean probability.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Argmax outputs the predicted Sequence ID [0-9].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target Sequence ID (e.g., Class 0 → aggressive_speed).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5-C. ALGORITHM CONTD.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FAST ITERATIVE DATASET GENERATION (PHASE - III):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298448"/>
            <a:ext cx="85039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Unlabelled FormAI / Kaggle C-Program repos.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Extract features for base C-programs.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Generate N randomized Metric Priority permutations.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Iteratively compile program against all 10 Pass Classes.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Measure execution, size, and compile ratios per class.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Compute reward = speed_w×speedup + size_w×reduction + time_w×compile_gain.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Label dataset row with the highest-reward Sequence ID.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supervised dataset spanning thousands of priority-labelled edge cases.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5-D. ALGORITHM CONTD.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PREFERENCE-AWARE SCHEDULING (PHASE - IV):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298448"/>
            <a:ext cx="85039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ID from ML Prediction; LLVM Pass Manager constraints.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Look up Sequence ID in PassManager dictionary.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Construct string of exact compiler passes (e.g. -inline -loop-unroll).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Subprocess Clang combining backend flags with custom ML passes.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Record output binary footprint and compilation time.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Execute binary natively and monitor OS-level execution duration.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Executable with Performance Analytics versus -O3 baseline.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EXPERIMENTS &amp; PERFORMANCE METRICS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611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Experiments to be Conducted:</a:t>
            </a:r>
            <a:endParaRPr lang="en-US" sz="1250">
              <a:latin typeface="Calibri"/>
              <a:ea typeface="Calibri"/>
              <a:cs typeface="Calibri"/>
            </a:endParaRPr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Training on 1,350 augmented C programs from </a:t>
            </a:r>
            <a:r>
              <a:rPr lang="en-US" sz="12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FormAI</a:t>
            </a:r>
            <a:r>
              <a:rPr lang="en-US" sz="12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Dataset &amp; </a:t>
            </a:r>
            <a:r>
              <a:rPr lang="en-US" sz="12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PolyBench</a:t>
            </a:r>
            <a:r>
              <a:rPr lang="en-US" sz="12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benchmarks.</a:t>
            </a:r>
            <a:endParaRPr lang="en-US" sz="1250" dirty="0">
              <a:latin typeface="Calibri"/>
              <a:ea typeface="Calibri"/>
              <a:cs typeface="Calibri"/>
            </a:endParaRPr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5-Fold Cross Validation on </a:t>
            </a:r>
            <a:r>
              <a:rPr lang="en-US" sz="12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Sklearn</a:t>
            </a:r>
            <a:r>
              <a:rPr lang="en-US" sz="12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SVC + </a:t>
            </a:r>
            <a:r>
              <a:rPr lang="en-US" sz="125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ExtraTrees</a:t>
            </a:r>
            <a:r>
              <a:rPr lang="en-US" sz="12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+ Random Forest ensemble.</a:t>
            </a:r>
            <a:endParaRPr lang="en-US" sz="1250" dirty="0">
              <a:latin typeface="Calibri"/>
              <a:ea typeface="Calibri"/>
              <a:cs typeface="Calibri"/>
            </a:endParaRPr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head-to-head demo: ML-predicted sequence vs Clang -O3 on Matrix Multiplication.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Signed-Rank Test + Cohen's d Effect Size for statistical significance.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Metrics:</a:t>
            </a:r>
            <a:endParaRPr lang="en-US" sz="1250" dirty="0"/>
          </a:p>
          <a:p>
            <a:pPr marL="685800" lvl="1" indent="-342900">
              <a:buSzPct val="100000"/>
              <a:buChar char="•"/>
            </a:pPr>
            <a:r>
              <a:rPr lang="en-US" sz="1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Prediction Accuracy: SVC |  Ensemble  |  Base KNN  |  Base DT</a:t>
            </a:r>
            <a:endParaRPr lang="en-US" sz="1250">
              <a:latin typeface="Calibri"/>
              <a:ea typeface="Calibri"/>
              <a:cs typeface="Calibri"/>
            </a:endParaRPr>
          </a:p>
          <a:p>
            <a:pPr marL="685800" lvl="1" indent="-342900">
              <a:buSzPct val="100000"/>
              <a:buChar char="•"/>
            </a:pPr>
            <a:r>
              <a:rPr lang="en-US" sz="1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Execution Speedup vs –O3</a:t>
            </a:r>
          </a:p>
          <a:p>
            <a:pPr marL="685800" lvl="1" indent="-342900">
              <a:buSzPct val="100000"/>
              <a:buChar char="•"/>
            </a:pPr>
            <a:r>
              <a:rPr lang="en-US" sz="1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Compile Overhead Reduction vs –O3</a:t>
            </a:r>
            <a:endParaRPr lang="en-US"/>
          </a:p>
          <a:p>
            <a:pPr marL="685800" lvl="1" indent="-342900">
              <a:buSzPct val="100000"/>
              <a:buChar char="•"/>
            </a:pPr>
            <a:r>
              <a:rPr lang="en-US" sz="1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ML Inference Time</a:t>
            </a:r>
          </a:p>
          <a:p>
            <a:pPr marL="685800" lvl="1" indent="-342900">
              <a:buSzPct val="100000"/>
              <a:buChar char="•"/>
            </a:pPr>
            <a:r>
              <a:rPr lang="en-US" sz="1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Adaptability Score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IMPLEMENTATION ENVIRONMENT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611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Ecosystem: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Host: Apple Silicon / Intel architecture / Linux .</a:t>
            </a:r>
          </a:p>
          <a:p>
            <a:pPr marL="685800" lvl="1" indent="-342900">
              <a:buSzPct val="100000"/>
              <a:buChar char="•"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Memory: 16 GB unified RAM.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Libraries: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Infrastructure: LLVM framework (opt / clang).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Language: Python 3.10+.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Machine Learning: scikit-learn (SVC / </a:t>
            </a:r>
            <a:r>
              <a:rPr lang="en-US" sz="13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ExtraTrees</a:t>
            </a:r>
            <a:r>
              <a:rPr lang="en-US" sz="1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/ Random Forest) — </a:t>
            </a:r>
            <a:r>
              <a:rPr lang="en-US" sz="13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Sklearn</a:t>
            </a:r>
            <a:r>
              <a:rPr lang="en-US" sz="1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fallbacks override </a:t>
            </a:r>
            <a:r>
              <a:rPr lang="en-US" sz="13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PyTorch</a:t>
            </a:r>
            <a:r>
              <a:rPr lang="en-US" sz="1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OpenMP crashes on Apple Silicon.</a:t>
            </a:r>
            <a:endParaRPr lang="en-US" sz="1300" dirty="0">
              <a:latin typeface="Calibri"/>
              <a:ea typeface="Calibri"/>
              <a:cs typeface="Calibri"/>
            </a:endParaRPr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NLP Representation: </a:t>
            </a:r>
            <a:r>
              <a:rPr lang="en-US" sz="13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HuggingFace</a:t>
            </a:r>
            <a:r>
              <a:rPr lang="en-US" sz="1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Transformers (</a:t>
            </a:r>
            <a:r>
              <a:rPr lang="en-US" sz="13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CodeBERT</a:t>
            </a:r>
            <a:r>
              <a:rPr lang="en-US" sz="1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/ CodeT5, inspired by Meta LLM Compiler 2024).</a:t>
            </a:r>
            <a:endParaRPr lang="en-US" sz="1300" dirty="0">
              <a:latin typeface="Calibri"/>
              <a:ea typeface="Calibri"/>
              <a:cs typeface="Calibri"/>
            </a:endParaRPr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Processing: NumPy, Pandas, Subprocess isolated workers.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EXPECTED MILESTONES / WORK PLAN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977496"/>
              </p:ext>
            </p:extLst>
          </p:nvPr>
        </p:nvGraphicFramePr>
        <p:xfrm>
          <a:off x="230443" y="1249004"/>
          <a:ext cx="8628920" cy="3411444"/>
        </p:xfrm>
        <a:graphic>
          <a:graphicData uri="http://schemas.openxmlformats.org/drawingml/2006/table">
            <a:tbl>
              <a:tblPr/>
              <a:tblGrid>
                <a:gridCol w="1204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6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8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1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Completed / To Be 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84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19.Feb.26 – 05.Apr.26</a:t>
                      </a:r>
                      <a:endParaRPr lang="en-US"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Literature survey; LLVM toolchain setup;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Autophase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66-dim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IRFeatureExtractor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;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CodeBERT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NLPFeatureExtractor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; 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Sklearn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SVC/</a:t>
                      </a:r>
                      <a:r>
                        <a:rPr lang="en-US" sz="110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ExtraTrees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/RF ensemble training; Priority Vector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integration; Matrix Multiplication benchmark.</a:t>
                      </a:r>
                      <a:endParaRPr lang="en-US" sz="110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9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09.Apr.26 – 05.May.26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dataset to 5,000+ programs from full FormAI corpus; tune ensemble hyperparameters; validate adaptability score across more priority vectors.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9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09.May.26 – 19.May.26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 ProGraML graph-based CFG embeddings; compare GNN vs current IRFeatureExtractor; statistical analysis across full PolyBench suite.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9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23.May.26 – 31.May.26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performance graphs; thesis compilation; Clang C++ pass plugin prototype (future work).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REFERENCES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 Research Team, "Meta Large Language Model Compiler: Foundation Models of Compiler Optimization," ArXiv preprint, 2024.
</a:t>
            </a: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Jain et al., "Machine Learning based prediction of custom optimization passes," PACT / IEEE, 2023.
</a:t>
            </a: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Cummins et al., "ProGraML: A Graph-based Program Representation for Data Flow Analysis and Compiler Optimizations," ICML / IEEE, 2021.
</a:t>
            </a: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Venkatakeerthy et al., "IR2Vec: LLVM IR based Scalable Program Embeddings," ACM Transactions on Architecture and Code Optimization (IEEE-cited), 2020.
</a:t>
            </a: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Cummins et al., "CompilerGym: Robust, Performant Compiler Optimization Environments for AI Research," CGO, 2022.
</a:t>
            </a: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Huang et al., "Autophase: Juggling HLS Phase Orderings in Random Forests with Deep Reinforcement Learning," MLSys, 2019.
</a:t>
            </a: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Wang and M. O'Boyle, "Machine Learning in Compiler Optimization," Proceedings of the IEEE, vol. 106, no. 11, 2018.
</a:t>
            </a: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H. Ashouri et al., "Machine Learning in Compilers: Past, Present and Future," HiPEAC, 2018.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69164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914400" y="269748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Any Questions?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and Preference-Aware Compiler Optimization Framework</dc:title>
  <dc:subject>PptxGenJS Presentation</dc:subject>
  <dc:creator>PptxGenJS</dc:creator>
  <cp:lastModifiedBy>PptxGenJS</cp:lastModifiedBy>
  <cp:revision>56</cp:revision>
  <dcterms:created xsi:type="dcterms:W3CDTF">2026-04-05T12:27:35Z</dcterms:created>
  <dcterms:modified xsi:type="dcterms:W3CDTF">2026-04-05T21:13:47Z</dcterms:modified>
</cp:coreProperties>
</file>